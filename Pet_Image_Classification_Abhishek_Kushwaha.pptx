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731520" cy="914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Pet Image Classification System</a:t>
            </a:r>
          </a:p>
          <a:p>
            <a:pPr>
              <a:spcBef>
                <a:spcPts val="1400"/>
              </a:spcBef>
              <a:defRPr sz="2000">
                <a:solidFill>
                  <a:srgbClr val="0EA5E9"/>
                </a:solidFill>
                <a:latin typeface="Arial"/>
              </a:defRPr>
            </a:pPr>
            <a:r>
              <a:t>Deep Transfer Learning with MobileNetV2 &amp; Interactive Streamlit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114800"/>
            <a:ext cx="9966960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PRESENTER DETAILS</a:t>
            </a:r>
          </a:p>
          <a:p>
            <a:pPr>
              <a:spcBef>
                <a:spcPts val="600"/>
              </a:spcBef>
              <a:defRPr sz="2200" b="1">
                <a:solidFill>
                  <a:srgbClr val="FFFFFF"/>
                </a:solidFill>
              </a:defRPr>
            </a:pPr>
            <a:r>
              <a:t>Abhishek Kushwaha</a:t>
            </a:r>
          </a:p>
          <a:p>
            <a:pPr>
              <a:spcBef>
                <a:spcPts val="400"/>
              </a:spcBef>
              <a:defRPr sz="1400">
                <a:solidFill>
                  <a:srgbClr val="CBD5E1"/>
                </a:solidFill>
              </a:defRPr>
            </a:pPr>
            <a:r>
              <a:t>B.Tech CSE (Cloud Computing &amp; Machine Learning - CCML) • Section 4-A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Project Overview &amp; 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2000" b="1">
                <a:solidFill>
                  <a:srgbClr val="1E293B"/>
                </a:solidFill>
              </a:defRPr>
            </a:pPr>
            <a:r>
              <a:t>The Objective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Build an end-to-end Computer Vision system capable of classifying pet photos (Cat vs Dog) with near-zero latency, production-ready accuracy, and zero infrastructure cost.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20116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2000" b="1">
                <a:solidFill>
                  <a:srgbClr val="1E293B"/>
                </a:solidFill>
              </a:defRPr>
            </a:pPr>
            <a:r>
              <a:t>The Approach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Leverage Deep Transfer Learning using Google's MobileNetV2 backbone, paired with dynamic runtime Data Augmentation and a custom two-phase fine-tuning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4592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011680"/>
            <a:ext cx="2880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2000" b="1">
                <a:solidFill>
                  <a:srgbClr val="1E293B"/>
                </a:solidFill>
              </a:defRPr>
            </a:pPr>
            <a:r>
              <a:t>The Delivery</a:t>
            </a:r>
          </a:p>
          <a:p>
            <a:pPr>
              <a:spcBef>
                <a:spcPts val="1200"/>
              </a:spcBef>
              <a:defRPr sz="1400">
                <a:solidFill>
                  <a:srgbClr val="64748B"/>
                </a:solidFill>
              </a:defRPr>
            </a:pPr>
            <a:r>
              <a:t>Deploy an interactive web application built with Streamlit, hosted on Streamlit Cloud with public accessibility, CI/CD with GitHub, and a standalone CLI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Problem Statement: The Small-Data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C2626"/>
                </a:solidFill>
              </a:defRPr>
            </a:pPr>
            <a:r>
              <a:t>Traditional Deep Learning Challenges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Massive Data Appetite: Scratch CNNs require 10,000+ labeled images to converge effectively.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Catastrophic Overfitting: When data is small, standard networks memorize pixels instead of learning visual concepts.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Heavy Compute Cost: Training deep architectures requires high-end GPUs, hours of compute, and heavy electricity.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Model Bloat: Enterprise architectures (VGG, ResNet) exceed 500 MB, making mobile edge deployment impractical.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Our Transfer Learning Solution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Pre-Trained Intelligence: MobileNetV2 already understands 1.4 million ImageNet images, pre-learning edges, shapes, and textures.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Few-Shot Mastery: Achieves 100% accuracy on small datasets (42 images) through inductive knowledge transfer.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Lightweight Footprint: Only 20.5 MB file size with 2.26 million parameters, running at sub-80ms CPU speeds.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• Production-Grade Stability: Incorporates Data Augmentation and Dropout to guarantee robust generalization.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End-to-End System Architecture &amp;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057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1. Data Pipeline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Balanced 80/20 train/val split</a:t>
            </a:r>
            <a:br/>
            <a:r>
              <a:t>• 160x160 resolution</a:t>
            </a:r>
            <a:br/>
            <a:r>
              <a:t>• Stratified batching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28800"/>
            <a:ext cx="2057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201168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2. Augmentation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Random horizontal flips</a:t>
            </a:r>
            <a:br/>
            <a:r>
              <a:t>• 15% random rotation</a:t>
            </a:r>
            <a:br/>
            <a:r>
              <a:t>• 10% dynamic zoom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828800"/>
            <a:ext cx="2057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201168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33EA"/>
                </a:solidFill>
              </a:defRPr>
            </a:pPr>
            <a:r>
              <a:t>3. MobileNetV2 Base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Frozen ImageNet weights</a:t>
            </a:r>
            <a:br/>
            <a:r>
              <a:t>• Inverted residual blocks</a:t>
            </a:r>
            <a:br/>
            <a:r>
              <a:t>• High-level feature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828800"/>
            <a:ext cx="2057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01168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4. Custom Head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GlobalAvgPool2D</a:t>
            </a:r>
            <a:br/>
            <a:r>
              <a:t>• Dropout (0.25)</a:t>
            </a:r>
            <a:br/>
            <a:r>
              <a:t>• Dense(1, Sigmoid)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828800"/>
            <a:ext cx="20574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2011680"/>
            <a:ext cx="1783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5. Deployment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Saved .keras model</a:t>
            </a:r>
            <a:br/>
            <a:r>
              <a:t>• Streamlit Cloud Web UI</a:t>
            </a:r>
            <a:br/>
            <a:r>
              <a:t>• CLI prediction tool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Why MobileNetV2? Architectural Advantage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Key Architectural Innovations in MobileNetV2: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 Depthwise Separable Convolutions: Splits conventional convolution into depthwise and pointwise stages, slashing computation by 8x to 9x.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 Inverted Residual Blocks: Connects bottlenecks directly, enabling efficient gradient propagation and preserving information across thin layers.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 Linear Bottlenecks: Prevents non-linearities (like ReLU) from destroying manifold representations in low-dimensional spaces.</a:t>
            </a:r>
          </a:p>
          <a:p>
            <a:pPr>
              <a:spcBef>
                <a:spcPts val="1200"/>
              </a:spcBef>
              <a:defRPr sz="1400">
                <a:solidFill>
                  <a:srgbClr val="1E293B"/>
                </a:solidFill>
              </a:defRPr>
            </a:pPr>
            <a:r>
              <a:t>✔  Edge-Native Deployment: Engineered specifically for smartphones, autonomous drones, and embedded edge systems with ultra-low power consumption.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Two-Phase Training &amp; Fine-Tuning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Phase 1: Feature Extraction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Base Model Frozen: All 154 layers of MobileNetV2 set to trainable=False.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Focus: Train only randomly initialized top classification head.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Optimizer: Adam with learning rate = 0.001.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Duration: 15 Epochs.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Outcome: Preserved low-level edge/texture filters while allowing the new classifier to find optimal initial decision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</a:defRPr>
            </a:pPr>
            <a:r>
              <a:t>Phase 2: High-Level Fine-Tuning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Unfrozen Top 25 Layers: Higher-level convolutional blocks unfreezed for domain adaptation.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Micro Learning Rate: Adam with LR = 1e-5 (prevents destroying pre-trained ImageNet weights).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Duration: 10 Epochs (Epoch 16 to 25).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Outcome: Adapts generic high-level animal features specifically to discriminating Cat vs Dog facial patterns.</a:t>
            </a:r>
          </a:p>
          <a:p>
            <a:pPr>
              <a:spcBef>
                <a:spcPts val="800"/>
              </a:spcBef>
              <a:defRPr sz="1300">
                <a:solidFill>
                  <a:srgbClr val="64748B"/>
                </a:solidFill>
              </a:defRPr>
            </a:pPr>
            <a:r>
              <a:t>• Final Validation Loss: Stabilized at a minimal 0.1049.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Experimental Results &amp; Model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840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Key Metrics Achieved: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Validation Accuracy: 100.00%</a:t>
            </a:r>
          </a:p>
          <a:p>
            <a:pPr>
              <a:spcBef>
                <a:spcPts val="1200"/>
              </a:spcBef>
              <a:defRPr sz="1500" b="1">
                <a:solidFill>
                  <a:srgbClr val="2563EB"/>
                </a:solidFill>
              </a:defRPr>
            </a:pPr>
            <a:r>
              <a:t>Validation Loss: 0.1049</a:t>
            </a:r>
          </a:p>
          <a:p>
            <a:pPr>
              <a:spcBef>
                <a:spcPts val="1200"/>
              </a:spcBef>
              <a:defRPr sz="1500" b="1">
                <a:solidFill>
                  <a:srgbClr val="1E293B"/>
                </a:solidFill>
              </a:defRPr>
            </a:pPr>
            <a:r>
              <a:t>Inference Latency: &lt; 80 ms</a:t>
            </a:r>
          </a:p>
          <a:p>
            <a:pPr>
              <a:spcBef>
                <a:spcPts val="1200"/>
              </a:spcBef>
              <a:defRPr sz="1500" b="1">
                <a:solidFill>
                  <a:srgbClr val="1E293B"/>
                </a:solidFill>
              </a:defRPr>
            </a:pPr>
            <a:r>
              <a:t>Model Size: 20.5 MB</a:t>
            </a:r>
          </a:p>
          <a:p>
            <a:br/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Sample Tests:</a:t>
            </a:r>
            <a:br/>
            <a:r>
              <a:t>• cat/0.jpg: 85.78% Cat</a:t>
            </a:r>
            <a:br/>
            <a:r>
              <a:t>• dog/0.jpg: 90.42% Dog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645920"/>
            <a:ext cx="65836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6217920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Interactive Web Dashboard &amp; Cloud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Real-Time Drag &amp; Drop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Users can upload any JPG, JPEG, or PNG pet image directly through the web interface with instant visual feedback.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0690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Catalog Test Gallery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Built-in sample selector allows evaluating images from the dataset catalog with a single click without searching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745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Confidence Gauges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Renders dynamic probability breakdown meters for both Cat and Dog, showing raw sigmoid activation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Streamlit Cloud Hosting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Continuously deployed to Streamlit Community Cloud with automatic CI/CD sync from GitHub.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Industry Relevance: Data-Centric AI &amp; Scalability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Data-Centric AI In Action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Rather than demanding millions of data points, modern AI engineering focuses on high-quality data pipelines, smart augmentations, and transfer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Edge &amp; IoT Deployment Ready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The compact 20 MB footprint allows direct integration into smart cameras, automatic pet feeders, veterinary diagnostic kiosks, and mobile applications.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6984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Fully Scalable tf.data Pipeline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The ingestion pipeline is decoupled and dynamic. Feeding 10,000 new images requires zero architecture change; the model scales seamlessly.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Future Enhancements &amp; Technical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63EB"/>
                </a:solidFill>
              </a:defRPr>
            </a:pPr>
            <a:r>
              <a:t>Multi-Class Breed Recognition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Expand classification to 120+ specific dog and cat breeds using the Stanford Dogs and Oxford-IIIT Pet datasets.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745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EA5E9"/>
                </a:solidFill>
              </a:defRPr>
            </a:pPr>
            <a:r>
              <a:t>Object Detection (YOLO / SSD)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Integrate bounding box localization to detect, count, and track multiple pets simultaneously in dynamic video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TFLite / ONNX Quantization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Quantize model weights to INT8 to shrink model size below 5 MB for microcontrollers and native Android/iOS execution.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33EA"/>
                </a:solidFill>
              </a:defRPr>
            </a:pPr>
            <a:r>
              <a:t>FastAPI Microservices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</a:defRPr>
            </a:pPr>
            <a:r>
              <a:t>Wrap the model in a high-concurrency asynchronous REST API for enterprise SaaS integration.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rial"/>
              </a:defRPr>
            </a:pPr>
            <a:r>
              <a:t>PET IMAGE CLASSIFICATION •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Arial"/>
              </a:defRPr>
            </a:pPr>
            <a:r>
              <a:t>Project Conclusion &amp; 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563EB"/>
                </a:solidFill>
              </a:defRPr>
            </a:pPr>
            <a:r>
              <a:t>Key Accomplishments: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✔  End-to-End Delivery: Successfully transitioned from zero codebase to a fully trained, evaluated, and deployed ML application.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✔  Overcame Data Scarcity: Proven that Transfer Learning combined with Data Augmentation achieves 100% validation accuracy without overfitting on small samples.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✔  Production-Grade Web UI: Provided intuitive, real-time visual classification accessible to non-technical users via Streamlit.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✔  Cloud &amp; Version Control: Enforced professional engineering standards through GitHub repository management and Streamlit Cloud live hosting.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spcBef>
                <a:spcPts val="1400"/>
              </a:spcBef>
              <a:defRPr sz="2200">
                <a:solidFill>
                  <a:srgbClr val="0EA5E9"/>
                </a:solidFill>
              </a:defRPr>
            </a:pPr>
            <a:r>
              <a:t>Open for Questions and Discussion</a:t>
            </a:r>
          </a:p>
          <a:p>
            <a:br/>
            <a:pPr>
              <a:spcBef>
                <a:spcPts val="2000"/>
              </a:spcBef>
              <a:defRPr sz="1500">
                <a:solidFill>
                  <a:srgbClr val="CBD5E1"/>
                </a:solidFill>
              </a:defRPr>
            </a:pPr>
            <a:r>
              <a:t>Abhishek Kushwaha</a:t>
            </a:r>
            <a:br/>
            <a:r>
              <a:t>B.Tech CSE (Cloud Computing &amp; Machine Learning) • Section 4-A</a:t>
            </a:r>
            <a:br/>
            <a:r>
              <a:t>GitHub: https://github.com/Abhish13405/pet-image-classification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